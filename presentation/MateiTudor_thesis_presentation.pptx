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Arial Bold" charset="1" panose="020B0704020202020204"/>
      <p:regular r:id="rId22"/>
    </p:embeddedFont>
    <p:embeddedFont>
      <p:font typeface="Arial" charset="1" panose="020B060402020202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1.png" Type="http://schemas.openxmlformats.org/officeDocument/2006/relationships/image"/><Relationship Id="rId6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0.png" Type="http://schemas.openxmlformats.org/officeDocument/2006/relationships/image"/><Relationship Id="rId5" Target="../media/image1.png" Type="http://schemas.openxmlformats.org/officeDocument/2006/relationships/image"/><Relationship Id="rId6" Target="../media/image11.png" Type="http://schemas.openxmlformats.org/officeDocument/2006/relationships/image"/><Relationship Id="rId7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3.pn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8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10481587">
            <a:off x="12534618" y="2658288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0" y="8229600"/>
                </a:moveTo>
                <a:lnTo>
                  <a:pt x="7197159" y="8229600"/>
                </a:lnTo>
                <a:lnTo>
                  <a:pt x="7197159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4733043">
            <a:off x="-745754" y="5096946"/>
            <a:ext cx="5977714" cy="6835224"/>
          </a:xfrm>
          <a:custGeom>
            <a:avLst/>
            <a:gdLst/>
            <a:ahLst/>
            <a:cxnLst/>
            <a:rect r="r" b="b" t="t" l="l"/>
            <a:pathLst>
              <a:path h="6835224" w="5977714">
                <a:moveTo>
                  <a:pt x="0" y="6835224"/>
                </a:moveTo>
                <a:lnTo>
                  <a:pt x="5977714" y="6835224"/>
                </a:lnTo>
                <a:lnTo>
                  <a:pt x="5977714" y="0"/>
                </a:lnTo>
                <a:lnTo>
                  <a:pt x="0" y="0"/>
                </a:lnTo>
                <a:lnTo>
                  <a:pt x="0" y="6835224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391891"/>
            <a:ext cx="3728944" cy="1273618"/>
          </a:xfrm>
          <a:custGeom>
            <a:avLst/>
            <a:gdLst/>
            <a:ahLst/>
            <a:cxnLst/>
            <a:rect r="r" b="b" t="t" l="l"/>
            <a:pathLst>
              <a:path h="1273618" w="3728944">
                <a:moveTo>
                  <a:pt x="0" y="0"/>
                </a:moveTo>
                <a:lnTo>
                  <a:pt x="3728944" y="0"/>
                </a:lnTo>
                <a:lnTo>
                  <a:pt x="3728944" y="1273618"/>
                </a:lnTo>
                <a:lnTo>
                  <a:pt x="0" y="12736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029159" y="378333"/>
            <a:ext cx="4208076" cy="1287176"/>
          </a:xfrm>
          <a:custGeom>
            <a:avLst/>
            <a:gdLst/>
            <a:ahLst/>
            <a:cxnLst/>
            <a:rect r="r" b="b" t="t" l="l"/>
            <a:pathLst>
              <a:path h="1287176" w="4208076">
                <a:moveTo>
                  <a:pt x="0" y="0"/>
                </a:moveTo>
                <a:lnTo>
                  <a:pt x="4208076" y="0"/>
                </a:lnTo>
                <a:lnTo>
                  <a:pt x="4208076" y="1287176"/>
                </a:lnTo>
                <a:lnTo>
                  <a:pt x="0" y="12871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85128" y="3155264"/>
            <a:ext cx="16517743" cy="326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0"/>
              </a:lnSpc>
            </a:pPr>
            <a:r>
              <a:rPr lang="en-US" b="true" sz="62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AIRNEST – SMART IOT INDOOR AIR MONITORING STATION</a:t>
            </a:r>
          </a:p>
          <a:p>
            <a:pPr algn="ctr">
              <a:lnSpc>
                <a:spcPts val="868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849348" y="5650285"/>
            <a:ext cx="4589304" cy="168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Bachelor's thesis</a:t>
            </a:r>
          </a:p>
          <a:p>
            <a:pPr algn="ctr">
              <a:lnSpc>
                <a:spcPts val="672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2014940" y="7571901"/>
            <a:ext cx="4655820" cy="1799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Candidate:</a:t>
            </a:r>
          </a:p>
          <a:p>
            <a:pPr algn="ctr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Tudor-Alexandru MATEI</a:t>
            </a:r>
          </a:p>
          <a:p>
            <a:pPr algn="ctr">
              <a:lnSpc>
                <a:spcPts val="476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76115" y="7571901"/>
            <a:ext cx="6214708" cy="1799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Scientific coordinator: </a:t>
            </a:r>
          </a:p>
          <a:p>
            <a:pPr algn="ctr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Conf. dr. ing. Răzvan, Bogdan</a:t>
            </a:r>
          </a:p>
          <a:p>
            <a:pPr algn="ctr">
              <a:lnSpc>
                <a:spcPts val="476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8773" y="8697534"/>
            <a:ext cx="4059922" cy="2221885"/>
          </a:xfrm>
          <a:custGeom>
            <a:avLst/>
            <a:gdLst/>
            <a:ahLst/>
            <a:cxnLst/>
            <a:rect r="r" b="b" t="t" l="l"/>
            <a:pathLst>
              <a:path h="2221885" w="4059922">
                <a:moveTo>
                  <a:pt x="0" y="0"/>
                </a:moveTo>
                <a:lnTo>
                  <a:pt x="4059922" y="0"/>
                </a:lnTo>
                <a:lnTo>
                  <a:pt x="4059922" y="2221885"/>
                </a:lnTo>
                <a:lnTo>
                  <a:pt x="0" y="22218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-59064" y="4034807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0" y="8229600"/>
                </a:moveTo>
                <a:lnTo>
                  <a:pt x="7197159" y="8229600"/>
                </a:lnTo>
                <a:lnTo>
                  <a:pt x="7197159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14634" y="385112"/>
            <a:ext cx="4208076" cy="1287176"/>
          </a:xfrm>
          <a:custGeom>
            <a:avLst/>
            <a:gdLst/>
            <a:ahLst/>
            <a:cxnLst/>
            <a:rect r="r" b="b" t="t" l="l"/>
            <a:pathLst>
              <a:path h="1287176" w="4208076">
                <a:moveTo>
                  <a:pt x="0" y="0"/>
                </a:moveTo>
                <a:lnTo>
                  <a:pt x="4208076" y="0"/>
                </a:lnTo>
                <a:lnTo>
                  <a:pt x="4208076" y="1287176"/>
                </a:lnTo>
                <a:lnTo>
                  <a:pt x="0" y="12871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05688" y="2296017"/>
            <a:ext cx="11822290" cy="2482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project presented today shows a smart indoor air quality station product. It is mostly destined for residential use and it lets the user easily visualize the data. This project meets the following requirements: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183315" y="904875"/>
            <a:ext cx="8500148" cy="88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34843" y="5048250"/>
            <a:ext cx="12418314" cy="434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Real-time reading, processing and display of sensor read values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Real-time storage  of read data in Cloud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Retrieval of data in Cloud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visualization through the website and mobile app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Predictions generated based on gathered and existing data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Download of raw data and mobile app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1637413" y="1854331"/>
            <a:ext cx="5057801" cy="0"/>
          </a:xfrm>
          <a:prstGeom prst="line">
            <a:avLst/>
          </a:prstGeom>
          <a:ln cap="flat" w="38100">
            <a:solidFill>
              <a:srgbClr val="033168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69349" y="-684324"/>
            <a:ext cx="4059922" cy="2221885"/>
          </a:xfrm>
          <a:custGeom>
            <a:avLst/>
            <a:gdLst/>
            <a:ahLst/>
            <a:cxnLst/>
            <a:rect r="r" b="b" t="t" l="l"/>
            <a:pathLst>
              <a:path h="2221885" w="4059922">
                <a:moveTo>
                  <a:pt x="0" y="0"/>
                </a:moveTo>
                <a:lnTo>
                  <a:pt x="4059922" y="0"/>
                </a:lnTo>
                <a:lnTo>
                  <a:pt x="4059922" y="2221885"/>
                </a:lnTo>
                <a:lnTo>
                  <a:pt x="0" y="22218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56948" y="1537561"/>
            <a:ext cx="8974104" cy="8749439"/>
          </a:xfrm>
          <a:custGeom>
            <a:avLst/>
            <a:gdLst/>
            <a:ahLst/>
            <a:cxnLst/>
            <a:rect r="r" b="b" t="t" l="l"/>
            <a:pathLst>
              <a:path h="8749439" w="8974104">
                <a:moveTo>
                  <a:pt x="0" y="0"/>
                </a:moveTo>
                <a:lnTo>
                  <a:pt x="8974104" y="0"/>
                </a:lnTo>
                <a:lnTo>
                  <a:pt x="8974104" y="8749439"/>
                </a:lnTo>
                <a:lnTo>
                  <a:pt x="0" y="8749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03533" y="302794"/>
            <a:ext cx="6621481" cy="882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SIMILAR WORKS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1385372" y="1204493"/>
            <a:ext cx="5057801" cy="0"/>
          </a:xfrm>
          <a:prstGeom prst="line">
            <a:avLst/>
          </a:prstGeom>
          <a:ln cap="flat" w="38100">
            <a:solidFill>
              <a:srgbClr val="03316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true" flipV="true" rot="-10272529">
            <a:off x="-773012" y="3405289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719716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7197160" y="0"/>
                </a:lnTo>
                <a:lnTo>
                  <a:pt x="7197160" y="822960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014634" y="385112"/>
            <a:ext cx="4208076" cy="1287176"/>
          </a:xfrm>
          <a:custGeom>
            <a:avLst/>
            <a:gdLst/>
            <a:ahLst/>
            <a:cxnLst/>
            <a:rect r="r" b="b" t="t" l="l"/>
            <a:pathLst>
              <a:path h="1287176" w="4208076">
                <a:moveTo>
                  <a:pt x="0" y="0"/>
                </a:moveTo>
                <a:lnTo>
                  <a:pt x="4208076" y="0"/>
                </a:lnTo>
                <a:lnTo>
                  <a:pt x="4208076" y="1287176"/>
                </a:lnTo>
                <a:lnTo>
                  <a:pt x="0" y="12871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10481587">
            <a:off x="14274633" y="2978064"/>
            <a:ext cx="6864732" cy="7849486"/>
          </a:xfrm>
          <a:custGeom>
            <a:avLst/>
            <a:gdLst/>
            <a:ahLst/>
            <a:cxnLst/>
            <a:rect r="r" b="b" t="t" l="l"/>
            <a:pathLst>
              <a:path h="7849486" w="6864732">
                <a:moveTo>
                  <a:pt x="0" y="7849486"/>
                </a:moveTo>
                <a:lnTo>
                  <a:pt x="6864732" y="7849486"/>
                </a:lnTo>
                <a:lnTo>
                  <a:pt x="6864732" y="0"/>
                </a:lnTo>
                <a:lnTo>
                  <a:pt x="0" y="0"/>
                </a:lnTo>
                <a:lnTo>
                  <a:pt x="0" y="7849486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2317439" y="-568204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7197159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7197159" y="0"/>
                </a:lnTo>
                <a:lnTo>
                  <a:pt x="7197159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52538" y="640449"/>
            <a:ext cx="8919572" cy="882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AND SOLUTION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279940" y="1523098"/>
            <a:ext cx="7961449" cy="0"/>
          </a:xfrm>
          <a:prstGeom prst="line">
            <a:avLst/>
          </a:prstGeom>
          <a:ln cap="flat" w="38100">
            <a:solidFill>
              <a:srgbClr val="03316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4014634" y="385112"/>
            <a:ext cx="4208076" cy="1287176"/>
          </a:xfrm>
          <a:custGeom>
            <a:avLst/>
            <a:gdLst/>
            <a:ahLst/>
            <a:cxnLst/>
            <a:rect r="r" b="b" t="t" l="l"/>
            <a:pathLst>
              <a:path h="1287176" w="4208076">
                <a:moveTo>
                  <a:pt x="0" y="0"/>
                </a:moveTo>
                <a:lnTo>
                  <a:pt x="4208076" y="0"/>
                </a:lnTo>
                <a:lnTo>
                  <a:pt x="4208076" y="1287176"/>
                </a:lnTo>
                <a:lnTo>
                  <a:pt x="0" y="12871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5745468">
            <a:off x="-423383" y="4909934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0" y="8229600"/>
                </a:moveTo>
                <a:lnTo>
                  <a:pt x="7197159" y="8229600"/>
                </a:lnTo>
                <a:lnTo>
                  <a:pt x="7197159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80223" y="2640491"/>
            <a:ext cx="8889987" cy="5800717"/>
          </a:xfrm>
          <a:custGeom>
            <a:avLst/>
            <a:gdLst/>
            <a:ahLst/>
            <a:cxnLst/>
            <a:rect r="r" b="b" t="t" l="l"/>
            <a:pathLst>
              <a:path h="5800717" w="8889987">
                <a:moveTo>
                  <a:pt x="0" y="0"/>
                </a:moveTo>
                <a:lnTo>
                  <a:pt x="8889987" y="0"/>
                </a:lnTo>
                <a:lnTo>
                  <a:pt x="8889987" y="5800717"/>
                </a:lnTo>
                <a:lnTo>
                  <a:pt x="0" y="58007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2715437"/>
            <a:ext cx="7675224" cy="1599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12"/>
              </a:lnSpc>
            </a:pPr>
            <a:r>
              <a:rPr lang="en-US" b="true" sz="300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</a:t>
            </a:r>
            <a:r>
              <a:rPr lang="en-US" sz="300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lack of affordable and modifiable product options for indoor air quality monitoring.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69484" y="4379735"/>
            <a:ext cx="7485680" cy="373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12"/>
              </a:lnSpc>
            </a:pPr>
            <a:r>
              <a:rPr lang="en-US" sz="3008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Solution</a:t>
            </a:r>
            <a:r>
              <a:rPr lang="en-US" sz="300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=&gt; a product made after this project, which can be arranged in 3 parts:</a:t>
            </a:r>
          </a:p>
          <a:p>
            <a:pPr algn="l" marL="649633" indent="-324817" lvl="1">
              <a:lnSpc>
                <a:spcPts val="4212"/>
              </a:lnSpc>
              <a:buFont typeface="Arial"/>
              <a:buChar char="•"/>
            </a:pPr>
            <a:r>
              <a:rPr lang="en-US" sz="300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Hardware part, having a Raspberry Pi as base </a:t>
            </a:r>
          </a:p>
          <a:p>
            <a:pPr algn="l" marL="649633" indent="-324817" lvl="1">
              <a:lnSpc>
                <a:spcPts val="4212"/>
              </a:lnSpc>
              <a:buFont typeface="Arial"/>
              <a:buChar char="•"/>
            </a:pPr>
            <a:r>
              <a:rPr lang="en-US" sz="300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Website and mobile application (runs on android) </a:t>
            </a:r>
          </a:p>
          <a:p>
            <a:pPr algn="l" marL="649633" indent="-324817" lvl="1">
              <a:lnSpc>
                <a:spcPts val="4212"/>
              </a:lnSpc>
              <a:buFont typeface="Arial"/>
              <a:buChar char="•"/>
            </a:pPr>
            <a:r>
              <a:rPr lang="en-US" sz="300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Cloud storage for data (AWS are used)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2569880" y="-1050305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0" y="8229600"/>
                </a:moveTo>
                <a:lnTo>
                  <a:pt x="7197160" y="8229600"/>
                </a:lnTo>
                <a:lnTo>
                  <a:pt x="7197160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79924" y="349022"/>
            <a:ext cx="4208076" cy="1287176"/>
          </a:xfrm>
          <a:custGeom>
            <a:avLst/>
            <a:gdLst/>
            <a:ahLst/>
            <a:cxnLst/>
            <a:rect r="r" b="b" t="t" l="l"/>
            <a:pathLst>
              <a:path h="1287176" w="4208076">
                <a:moveTo>
                  <a:pt x="0" y="0"/>
                </a:moveTo>
                <a:lnTo>
                  <a:pt x="4208076" y="0"/>
                </a:lnTo>
                <a:lnTo>
                  <a:pt x="4208076" y="1287176"/>
                </a:lnTo>
                <a:lnTo>
                  <a:pt x="0" y="12871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81099" y="1989397"/>
            <a:ext cx="14634112" cy="8048761"/>
          </a:xfrm>
          <a:custGeom>
            <a:avLst/>
            <a:gdLst/>
            <a:ahLst/>
            <a:cxnLst/>
            <a:rect r="r" b="b" t="t" l="l"/>
            <a:pathLst>
              <a:path h="8048761" w="14634112">
                <a:moveTo>
                  <a:pt x="0" y="0"/>
                </a:moveTo>
                <a:lnTo>
                  <a:pt x="14634112" y="0"/>
                </a:lnTo>
                <a:lnTo>
                  <a:pt x="14634112" y="8048762"/>
                </a:lnTo>
                <a:lnTo>
                  <a:pt x="0" y="80487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-169091" y="488950"/>
            <a:ext cx="10641419" cy="882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  ARCHITECTURE</a:t>
            </a:r>
          </a:p>
        </p:txBody>
      </p:sp>
      <p:sp>
        <p:nvSpPr>
          <p:cNvPr name="AutoShape 6" id="6"/>
          <p:cNvSpPr/>
          <p:nvPr/>
        </p:nvSpPr>
        <p:spPr>
          <a:xfrm flipV="true">
            <a:off x="1279940" y="1523098"/>
            <a:ext cx="7961449" cy="0"/>
          </a:xfrm>
          <a:prstGeom prst="line">
            <a:avLst/>
          </a:prstGeom>
          <a:ln cap="flat" w="38100">
            <a:solidFill>
              <a:srgbClr val="033168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2637983" y="-1215586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0" y="8229600"/>
                </a:moveTo>
                <a:lnTo>
                  <a:pt x="7197159" y="8229600"/>
                </a:lnTo>
                <a:lnTo>
                  <a:pt x="7197159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897434" y="-987628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7197159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7197159" y="0"/>
                </a:lnTo>
                <a:lnTo>
                  <a:pt x="7197159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94333" y="1788563"/>
            <a:ext cx="11420301" cy="8336820"/>
          </a:xfrm>
          <a:custGeom>
            <a:avLst/>
            <a:gdLst/>
            <a:ahLst/>
            <a:cxnLst/>
            <a:rect r="r" b="b" t="t" l="l"/>
            <a:pathLst>
              <a:path h="8336820" w="11420301">
                <a:moveTo>
                  <a:pt x="0" y="0"/>
                </a:moveTo>
                <a:lnTo>
                  <a:pt x="11420301" y="0"/>
                </a:lnTo>
                <a:lnTo>
                  <a:pt x="11420301" y="8336819"/>
                </a:lnTo>
                <a:lnTo>
                  <a:pt x="0" y="83368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02207" y="290276"/>
            <a:ext cx="10641419" cy="882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HARDWARE ARCHITECTURE</a:t>
            </a:r>
          </a:p>
        </p:txBody>
      </p:sp>
      <p:sp>
        <p:nvSpPr>
          <p:cNvPr name="AutoShape 6" id="6"/>
          <p:cNvSpPr/>
          <p:nvPr/>
        </p:nvSpPr>
        <p:spPr>
          <a:xfrm>
            <a:off x="1588989" y="1153875"/>
            <a:ext cx="8933183" cy="0"/>
          </a:xfrm>
          <a:prstGeom prst="line">
            <a:avLst/>
          </a:prstGeom>
          <a:ln cap="flat" w="38100">
            <a:solidFill>
              <a:srgbClr val="03316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4213172" y="385112"/>
            <a:ext cx="4009538" cy="1226447"/>
          </a:xfrm>
          <a:custGeom>
            <a:avLst/>
            <a:gdLst/>
            <a:ahLst/>
            <a:cxnLst/>
            <a:rect r="r" b="b" t="t" l="l"/>
            <a:pathLst>
              <a:path h="1226447" w="4009538">
                <a:moveTo>
                  <a:pt x="0" y="0"/>
                </a:moveTo>
                <a:lnTo>
                  <a:pt x="4009538" y="0"/>
                </a:lnTo>
                <a:lnTo>
                  <a:pt x="4009538" y="1226447"/>
                </a:lnTo>
                <a:lnTo>
                  <a:pt x="0" y="12264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69349" y="-684324"/>
            <a:ext cx="4059922" cy="2221885"/>
          </a:xfrm>
          <a:custGeom>
            <a:avLst/>
            <a:gdLst/>
            <a:ahLst/>
            <a:cxnLst/>
            <a:rect r="r" b="b" t="t" l="l"/>
            <a:pathLst>
              <a:path h="2221885" w="4059922">
                <a:moveTo>
                  <a:pt x="0" y="0"/>
                </a:moveTo>
                <a:lnTo>
                  <a:pt x="4059922" y="0"/>
                </a:lnTo>
                <a:lnTo>
                  <a:pt x="4059922" y="2221885"/>
                </a:lnTo>
                <a:lnTo>
                  <a:pt x="0" y="22218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99" y="-359746"/>
            <a:ext cx="9881782" cy="10949343"/>
          </a:xfrm>
          <a:custGeom>
            <a:avLst/>
            <a:gdLst/>
            <a:ahLst/>
            <a:cxnLst/>
            <a:rect r="r" b="b" t="t" l="l"/>
            <a:pathLst>
              <a:path h="10949343" w="9881782">
                <a:moveTo>
                  <a:pt x="0" y="0"/>
                </a:moveTo>
                <a:lnTo>
                  <a:pt x="9881782" y="0"/>
                </a:lnTo>
                <a:lnTo>
                  <a:pt x="9881782" y="10949342"/>
                </a:lnTo>
                <a:lnTo>
                  <a:pt x="0" y="109493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258565" y="4089400"/>
            <a:ext cx="5630403" cy="1946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5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 ARCHITECTURE</a:t>
            </a:r>
          </a:p>
        </p:txBody>
      </p:sp>
      <p:sp>
        <p:nvSpPr>
          <p:cNvPr name="Freeform 5" id="5"/>
          <p:cNvSpPr/>
          <p:nvPr/>
        </p:nvSpPr>
        <p:spPr>
          <a:xfrm flipH="true" flipV="true" rot="-5400000">
            <a:off x="-4172555" y="-4122272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7197159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7197159" y="0"/>
                </a:lnTo>
                <a:lnTo>
                  <a:pt x="7197159" y="822960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11936273" y="5114925"/>
            <a:ext cx="4274988" cy="0"/>
          </a:xfrm>
          <a:prstGeom prst="line">
            <a:avLst/>
          </a:prstGeom>
          <a:ln cap="flat" w="38100">
            <a:solidFill>
              <a:srgbClr val="03316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1383479" y="6035675"/>
            <a:ext cx="5505489" cy="0"/>
          </a:xfrm>
          <a:prstGeom prst="line">
            <a:avLst/>
          </a:prstGeom>
          <a:ln cap="flat" w="38100">
            <a:solidFill>
              <a:srgbClr val="03316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5173240" y="1028700"/>
            <a:ext cx="1862933" cy="370484"/>
          </a:xfrm>
          <a:custGeom>
            <a:avLst/>
            <a:gdLst/>
            <a:ahLst/>
            <a:cxnLst/>
            <a:rect r="r" b="b" t="t" l="l"/>
            <a:pathLst>
              <a:path h="370484" w="1862933">
                <a:moveTo>
                  <a:pt x="0" y="0"/>
                </a:moveTo>
                <a:lnTo>
                  <a:pt x="1862933" y="0"/>
                </a:lnTo>
                <a:lnTo>
                  <a:pt x="1862933" y="370484"/>
                </a:lnTo>
                <a:lnTo>
                  <a:pt x="0" y="3704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41708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014634" y="385112"/>
            <a:ext cx="4208076" cy="1287176"/>
          </a:xfrm>
          <a:custGeom>
            <a:avLst/>
            <a:gdLst/>
            <a:ahLst/>
            <a:cxnLst/>
            <a:rect r="r" b="b" t="t" l="l"/>
            <a:pathLst>
              <a:path h="1287176" w="4208076">
                <a:moveTo>
                  <a:pt x="0" y="0"/>
                </a:moveTo>
                <a:lnTo>
                  <a:pt x="4208076" y="0"/>
                </a:lnTo>
                <a:lnTo>
                  <a:pt x="4208076" y="1287176"/>
                </a:lnTo>
                <a:lnTo>
                  <a:pt x="0" y="12871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10481587">
            <a:off x="12534618" y="2658288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0" y="8229600"/>
                </a:moveTo>
                <a:lnTo>
                  <a:pt x="7197159" y="8229600"/>
                </a:lnTo>
                <a:lnTo>
                  <a:pt x="7197159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10800000">
            <a:off x="13148541" y="2139642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0" y="8229600"/>
                </a:moveTo>
                <a:lnTo>
                  <a:pt x="7197159" y="8229600"/>
                </a:lnTo>
                <a:lnTo>
                  <a:pt x="7197159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205992">
            <a:off x="-705358" y="2878165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7197159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7197159" y="0"/>
                </a:lnTo>
                <a:lnTo>
                  <a:pt x="7197159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761601" y="3397529"/>
            <a:ext cx="9899834" cy="3491941"/>
          </a:xfrm>
          <a:custGeom>
            <a:avLst/>
            <a:gdLst/>
            <a:ahLst/>
            <a:cxnLst/>
            <a:rect r="r" b="b" t="t" l="l"/>
            <a:pathLst>
              <a:path h="3491941" w="9899834">
                <a:moveTo>
                  <a:pt x="0" y="0"/>
                </a:moveTo>
                <a:lnTo>
                  <a:pt x="9899834" y="0"/>
                </a:lnTo>
                <a:lnTo>
                  <a:pt x="9899834" y="3491942"/>
                </a:lnTo>
                <a:lnTo>
                  <a:pt x="0" y="34919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982960" y="3458639"/>
            <a:ext cx="9457115" cy="3262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88"/>
              </a:lnSpc>
            </a:pPr>
            <a:r>
              <a:rPr lang="en-US" sz="349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There are two models used:</a:t>
            </a:r>
          </a:p>
          <a:p>
            <a:pPr algn="ctr">
              <a:lnSpc>
                <a:spcPts val="4207"/>
              </a:lnSpc>
            </a:pPr>
          </a:p>
          <a:p>
            <a:pPr algn="l" marL="648911" indent="-324456" lvl="1">
              <a:lnSpc>
                <a:spcPts val="4207"/>
              </a:lnSpc>
              <a:buFont typeface="Arial"/>
              <a:buChar char="•"/>
            </a:pPr>
            <a:r>
              <a:rPr lang="en-US" sz="30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Prophet (used for predicting temperature and humidity up to 7 days ahead)</a:t>
            </a:r>
          </a:p>
          <a:p>
            <a:pPr algn="l" marL="648911" indent="-324456" lvl="1">
              <a:lnSpc>
                <a:spcPts val="4207"/>
              </a:lnSpc>
              <a:buFont typeface="Arial"/>
              <a:buChar char="•"/>
            </a:pPr>
            <a:r>
              <a:rPr lang="en-US" sz="30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Random Forest Classifier( used to classify if a future day will have dangerous air quality levels)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04875"/>
            <a:ext cx="6844526" cy="882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MACHINE LEARNING</a:t>
            </a:r>
          </a:p>
        </p:txBody>
      </p:sp>
      <p:sp>
        <p:nvSpPr>
          <p:cNvPr name="AutoShape 7" id="7"/>
          <p:cNvSpPr/>
          <p:nvPr/>
        </p:nvSpPr>
        <p:spPr>
          <a:xfrm>
            <a:off x="1261959" y="1787524"/>
            <a:ext cx="6427024" cy="0"/>
          </a:xfrm>
          <a:prstGeom prst="line">
            <a:avLst/>
          </a:prstGeom>
          <a:ln cap="flat" w="38100">
            <a:solidFill>
              <a:srgbClr val="03316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5121347" y="-1809785"/>
            <a:ext cx="4710516" cy="2577937"/>
          </a:xfrm>
          <a:custGeom>
            <a:avLst/>
            <a:gdLst/>
            <a:ahLst/>
            <a:cxnLst/>
            <a:rect r="r" b="b" t="t" l="l"/>
            <a:pathLst>
              <a:path h="2577937" w="4710516">
                <a:moveTo>
                  <a:pt x="0" y="0"/>
                </a:moveTo>
                <a:lnTo>
                  <a:pt x="4710516" y="0"/>
                </a:lnTo>
                <a:lnTo>
                  <a:pt x="4710516" y="2577937"/>
                </a:lnTo>
                <a:lnTo>
                  <a:pt x="0" y="25779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014634" y="385112"/>
            <a:ext cx="4208076" cy="1287176"/>
          </a:xfrm>
          <a:custGeom>
            <a:avLst/>
            <a:gdLst/>
            <a:ahLst/>
            <a:cxnLst/>
            <a:rect r="r" b="b" t="t" l="l"/>
            <a:pathLst>
              <a:path h="1287176" w="4208076">
                <a:moveTo>
                  <a:pt x="0" y="0"/>
                </a:moveTo>
                <a:lnTo>
                  <a:pt x="4208076" y="0"/>
                </a:lnTo>
                <a:lnTo>
                  <a:pt x="4208076" y="1287176"/>
                </a:lnTo>
                <a:lnTo>
                  <a:pt x="0" y="12871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4885327">
            <a:off x="10951034" y="-2327276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0" y="8229600"/>
                </a:moveTo>
                <a:lnTo>
                  <a:pt x="7197159" y="8229600"/>
                </a:lnTo>
                <a:lnTo>
                  <a:pt x="7197159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6933" y="904875"/>
            <a:ext cx="4526655" cy="882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TESTING</a:t>
            </a:r>
          </a:p>
        </p:txBody>
      </p:sp>
      <p:sp>
        <p:nvSpPr>
          <p:cNvPr name="AutoShape 4" id="4"/>
          <p:cNvSpPr/>
          <p:nvPr/>
        </p:nvSpPr>
        <p:spPr>
          <a:xfrm>
            <a:off x="1464148" y="1787524"/>
            <a:ext cx="2850305" cy="0"/>
          </a:xfrm>
          <a:prstGeom prst="line">
            <a:avLst/>
          </a:prstGeom>
          <a:ln cap="flat" w="38100">
            <a:solidFill>
              <a:srgbClr val="03316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828584" y="5023338"/>
            <a:ext cx="7315200" cy="2580271"/>
          </a:xfrm>
          <a:custGeom>
            <a:avLst/>
            <a:gdLst/>
            <a:ahLst/>
            <a:cxnLst/>
            <a:rect r="r" b="b" t="t" l="l"/>
            <a:pathLst>
              <a:path h="2580271" w="7315200">
                <a:moveTo>
                  <a:pt x="0" y="0"/>
                </a:moveTo>
                <a:lnTo>
                  <a:pt x="7315200" y="0"/>
                </a:lnTo>
                <a:lnTo>
                  <a:pt x="7315200" y="2580270"/>
                </a:lnTo>
                <a:lnTo>
                  <a:pt x="0" y="25802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74916" y="5144438"/>
            <a:ext cx="7022535" cy="225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Data gathered and computed by the station to ensure its accuracy.</a:t>
            </a:r>
          </a:p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generation of predictions and sending data.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944100" y="5023338"/>
            <a:ext cx="7315200" cy="2580271"/>
          </a:xfrm>
          <a:custGeom>
            <a:avLst/>
            <a:gdLst/>
            <a:ahLst/>
            <a:cxnLst/>
            <a:rect r="r" b="b" t="t" l="l"/>
            <a:pathLst>
              <a:path h="2580271" w="7315200">
                <a:moveTo>
                  <a:pt x="0" y="0"/>
                </a:moveTo>
                <a:lnTo>
                  <a:pt x="7315200" y="0"/>
                </a:lnTo>
                <a:lnTo>
                  <a:pt x="7315200" y="2580270"/>
                </a:lnTo>
                <a:lnTo>
                  <a:pt x="0" y="25802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899810" y="4991550"/>
            <a:ext cx="7022535" cy="281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Testing the website and mobile application so there are no errors and data is available to see when used by the user.</a:t>
            </a:r>
          </a:p>
          <a:p>
            <a:pPr algn="ctr">
              <a:lnSpc>
                <a:spcPts val="447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448824" y="2729934"/>
            <a:ext cx="11459602" cy="1199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To make sure the system is functioning properly, testing was conducted in two parts:</a:t>
            </a:r>
          </a:p>
        </p:txBody>
      </p:sp>
      <p:sp>
        <p:nvSpPr>
          <p:cNvPr name="Freeform 10" id="10"/>
          <p:cNvSpPr/>
          <p:nvPr/>
        </p:nvSpPr>
        <p:spPr>
          <a:xfrm flipH="true" flipV="true" rot="-10141208">
            <a:off x="-1544207" y="2846041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719716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7197160" y="0"/>
                </a:lnTo>
                <a:lnTo>
                  <a:pt x="719716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014634" y="385112"/>
            <a:ext cx="4208076" cy="1287176"/>
          </a:xfrm>
          <a:custGeom>
            <a:avLst/>
            <a:gdLst/>
            <a:ahLst/>
            <a:cxnLst/>
            <a:rect r="r" b="b" t="t" l="l"/>
            <a:pathLst>
              <a:path h="1287176" w="4208076">
                <a:moveTo>
                  <a:pt x="0" y="0"/>
                </a:moveTo>
                <a:lnTo>
                  <a:pt x="4208076" y="0"/>
                </a:lnTo>
                <a:lnTo>
                  <a:pt x="4208076" y="1287176"/>
                </a:lnTo>
                <a:lnTo>
                  <a:pt x="0" y="12871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659700">
            <a:off x="-1332632" y="-1061227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0" y="8229600"/>
                </a:moveTo>
                <a:lnTo>
                  <a:pt x="7197159" y="8229600"/>
                </a:lnTo>
                <a:lnTo>
                  <a:pt x="7197159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96416">
            <a:off x="13034566" y="-1027802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7197159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7197159" y="0"/>
                </a:lnTo>
                <a:lnTo>
                  <a:pt x="7197159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93409" y="2280144"/>
            <a:ext cx="8026984" cy="3881915"/>
          </a:xfrm>
          <a:custGeom>
            <a:avLst/>
            <a:gdLst/>
            <a:ahLst/>
            <a:cxnLst/>
            <a:rect r="r" b="b" t="t" l="l"/>
            <a:pathLst>
              <a:path h="3881915" w="8026984">
                <a:moveTo>
                  <a:pt x="0" y="0"/>
                </a:moveTo>
                <a:lnTo>
                  <a:pt x="8026984" y="0"/>
                </a:lnTo>
                <a:lnTo>
                  <a:pt x="8026984" y="3881915"/>
                </a:lnTo>
                <a:lnTo>
                  <a:pt x="0" y="38819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064" t="0" r="-3803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91832" y="904875"/>
            <a:ext cx="4924005" cy="882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</a:p>
        </p:txBody>
      </p:sp>
      <p:sp>
        <p:nvSpPr>
          <p:cNvPr name="AutoShape 6" id="6"/>
          <p:cNvSpPr/>
          <p:nvPr/>
        </p:nvSpPr>
        <p:spPr>
          <a:xfrm>
            <a:off x="1659411" y="1787524"/>
            <a:ext cx="3004981" cy="0"/>
          </a:xfrm>
          <a:prstGeom prst="line">
            <a:avLst/>
          </a:prstGeom>
          <a:ln cap="flat" w="38100">
            <a:solidFill>
              <a:srgbClr val="03316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659411" y="7301093"/>
            <a:ext cx="6354428" cy="2241380"/>
          </a:xfrm>
          <a:custGeom>
            <a:avLst/>
            <a:gdLst/>
            <a:ahLst/>
            <a:cxnLst/>
            <a:rect r="r" b="b" t="t" l="l"/>
            <a:pathLst>
              <a:path h="2241380" w="6354428">
                <a:moveTo>
                  <a:pt x="0" y="0"/>
                </a:moveTo>
                <a:lnTo>
                  <a:pt x="6354428" y="0"/>
                </a:lnTo>
                <a:lnTo>
                  <a:pt x="6354428" y="2241380"/>
                </a:lnTo>
                <a:lnTo>
                  <a:pt x="0" y="22413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437135" y="2702318"/>
            <a:ext cx="6351001" cy="2240171"/>
          </a:xfrm>
          <a:custGeom>
            <a:avLst/>
            <a:gdLst/>
            <a:ahLst/>
            <a:cxnLst/>
            <a:rect r="r" b="b" t="t" l="l"/>
            <a:pathLst>
              <a:path h="2240171" w="6351001">
                <a:moveTo>
                  <a:pt x="0" y="0"/>
                </a:moveTo>
                <a:lnTo>
                  <a:pt x="6351001" y="0"/>
                </a:lnTo>
                <a:lnTo>
                  <a:pt x="6351001" y="2240172"/>
                </a:lnTo>
                <a:lnTo>
                  <a:pt x="0" y="22401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014634" y="385112"/>
            <a:ext cx="4208076" cy="1287176"/>
          </a:xfrm>
          <a:custGeom>
            <a:avLst/>
            <a:gdLst/>
            <a:ahLst/>
            <a:cxnLst/>
            <a:rect r="r" b="b" t="t" l="l"/>
            <a:pathLst>
              <a:path h="1287176" w="4208076">
                <a:moveTo>
                  <a:pt x="0" y="0"/>
                </a:moveTo>
                <a:lnTo>
                  <a:pt x="4208076" y="0"/>
                </a:lnTo>
                <a:lnTo>
                  <a:pt x="4208076" y="1287176"/>
                </a:lnTo>
                <a:lnTo>
                  <a:pt x="0" y="12871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280794" y="6635629"/>
            <a:ext cx="9279595" cy="3179651"/>
          </a:xfrm>
          <a:custGeom>
            <a:avLst/>
            <a:gdLst/>
            <a:ahLst/>
            <a:cxnLst/>
            <a:rect r="r" b="b" t="t" l="l"/>
            <a:pathLst>
              <a:path h="3179651" w="9279595">
                <a:moveTo>
                  <a:pt x="0" y="0"/>
                </a:moveTo>
                <a:lnTo>
                  <a:pt x="9279595" y="0"/>
                </a:lnTo>
                <a:lnTo>
                  <a:pt x="9279595" y="3179652"/>
                </a:lnTo>
                <a:lnTo>
                  <a:pt x="0" y="31796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710" t="0" r="-271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831644" y="7620413"/>
            <a:ext cx="6073312" cy="1536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Comparison between values at the beggining and end of a session (June 13th)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37135" y="3021034"/>
            <a:ext cx="6183687" cy="1536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 comparison between two different days  (25th May before and 13th June after sensor calibration)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73204">
            <a:off x="-560009" y="5097687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0" y="8229600"/>
                </a:moveTo>
                <a:lnTo>
                  <a:pt x="7197160" y="8229600"/>
                </a:lnTo>
                <a:lnTo>
                  <a:pt x="7197160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96416">
            <a:off x="13034566" y="-1027802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7197159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7197159" y="0"/>
                </a:lnTo>
                <a:lnTo>
                  <a:pt x="7197159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60708" y="515938"/>
            <a:ext cx="4924005" cy="882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1315411" y="1398587"/>
            <a:ext cx="3071605" cy="0"/>
          </a:xfrm>
          <a:prstGeom prst="line">
            <a:avLst/>
          </a:prstGeom>
          <a:ln cap="flat" w="38100">
            <a:solidFill>
              <a:srgbClr val="03316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4014634" y="385112"/>
            <a:ext cx="4208076" cy="1287176"/>
          </a:xfrm>
          <a:custGeom>
            <a:avLst/>
            <a:gdLst/>
            <a:ahLst/>
            <a:cxnLst/>
            <a:rect r="r" b="b" t="t" l="l"/>
            <a:pathLst>
              <a:path h="1287176" w="4208076">
                <a:moveTo>
                  <a:pt x="0" y="0"/>
                </a:moveTo>
                <a:lnTo>
                  <a:pt x="4208076" y="0"/>
                </a:lnTo>
                <a:lnTo>
                  <a:pt x="4208076" y="1287176"/>
                </a:lnTo>
                <a:lnTo>
                  <a:pt x="0" y="12871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2654106"/>
            <a:ext cx="8945002" cy="5746003"/>
          </a:xfrm>
          <a:custGeom>
            <a:avLst/>
            <a:gdLst/>
            <a:ahLst/>
            <a:cxnLst/>
            <a:rect r="r" b="b" t="t" l="l"/>
            <a:pathLst>
              <a:path h="5746003" w="8945002">
                <a:moveTo>
                  <a:pt x="0" y="0"/>
                </a:moveTo>
                <a:lnTo>
                  <a:pt x="8945002" y="0"/>
                </a:lnTo>
                <a:lnTo>
                  <a:pt x="8945002" y="5746003"/>
                </a:lnTo>
                <a:lnTo>
                  <a:pt x="0" y="57460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89" t="0" r="-1389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144000" y="2654106"/>
            <a:ext cx="9230527" cy="5746003"/>
          </a:xfrm>
          <a:custGeom>
            <a:avLst/>
            <a:gdLst/>
            <a:ahLst/>
            <a:cxnLst/>
            <a:rect r="r" b="b" t="t" l="l"/>
            <a:pathLst>
              <a:path h="5746003" w="9230527">
                <a:moveTo>
                  <a:pt x="0" y="0"/>
                </a:moveTo>
                <a:lnTo>
                  <a:pt x="9230527" y="0"/>
                </a:lnTo>
                <a:lnTo>
                  <a:pt x="9230527" y="5746003"/>
                </a:lnTo>
                <a:lnTo>
                  <a:pt x="0" y="57460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282392" y="8676547"/>
            <a:ext cx="5723217" cy="995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Chart data present on the pictures above is from June 13th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73204">
            <a:off x="-560009" y="5097687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0" y="8229600"/>
                </a:moveTo>
                <a:lnTo>
                  <a:pt x="7197160" y="8229600"/>
                </a:lnTo>
                <a:lnTo>
                  <a:pt x="7197160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96416">
            <a:off x="13034566" y="-1027802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7197159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7197159" y="0"/>
                </a:lnTo>
                <a:lnTo>
                  <a:pt x="7197159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288598" y="2139523"/>
            <a:ext cx="13658483" cy="6897534"/>
          </a:xfrm>
          <a:custGeom>
            <a:avLst/>
            <a:gdLst/>
            <a:ahLst/>
            <a:cxnLst/>
            <a:rect r="r" b="b" t="t" l="l"/>
            <a:pathLst>
              <a:path h="6897534" w="13658483">
                <a:moveTo>
                  <a:pt x="0" y="0"/>
                </a:moveTo>
                <a:lnTo>
                  <a:pt x="13658483" y="0"/>
                </a:lnTo>
                <a:lnTo>
                  <a:pt x="13658483" y="6897534"/>
                </a:lnTo>
                <a:lnTo>
                  <a:pt x="0" y="68975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04858" y="904875"/>
            <a:ext cx="4924005" cy="882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63716" y="9182100"/>
            <a:ext cx="4924005" cy="995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predictions in the picture were generated on 23.06.2026</a:t>
            </a:r>
          </a:p>
        </p:txBody>
      </p:sp>
      <p:sp>
        <p:nvSpPr>
          <p:cNvPr name="AutoShape 7" id="7"/>
          <p:cNvSpPr/>
          <p:nvPr/>
        </p:nvSpPr>
        <p:spPr>
          <a:xfrm>
            <a:off x="1359560" y="1787524"/>
            <a:ext cx="3071605" cy="0"/>
          </a:xfrm>
          <a:prstGeom prst="line">
            <a:avLst/>
          </a:prstGeom>
          <a:ln cap="flat" w="38100">
            <a:solidFill>
              <a:srgbClr val="03316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4014634" y="385112"/>
            <a:ext cx="4208076" cy="1287176"/>
          </a:xfrm>
          <a:custGeom>
            <a:avLst/>
            <a:gdLst/>
            <a:ahLst/>
            <a:cxnLst/>
            <a:rect r="r" b="b" t="t" l="l"/>
            <a:pathLst>
              <a:path h="1287176" w="4208076">
                <a:moveTo>
                  <a:pt x="0" y="0"/>
                </a:moveTo>
                <a:lnTo>
                  <a:pt x="4208076" y="0"/>
                </a:lnTo>
                <a:lnTo>
                  <a:pt x="4208076" y="1287176"/>
                </a:lnTo>
                <a:lnTo>
                  <a:pt x="0" y="12871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10800000">
            <a:off x="13148541" y="2139642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0" y="8229600"/>
                </a:moveTo>
                <a:lnTo>
                  <a:pt x="7197159" y="8229600"/>
                </a:lnTo>
                <a:lnTo>
                  <a:pt x="7197159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1566282" y="2139642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719716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7197160" y="0"/>
                </a:lnTo>
                <a:lnTo>
                  <a:pt x="719716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18520" y="3188501"/>
            <a:ext cx="13098836" cy="495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This project presents an IoT-based  smart indoor air quality monitoring product which integrates multiple  sensors with a Raspberry Pi 4, cloud storage, web and mobile applications, and 2 machine learning prediction models. By combining all of these, the system offers a solution for improving indoor environmental awareness.</a:t>
            </a:r>
          </a:p>
          <a:p>
            <a:pPr algn="ctr">
              <a:lnSpc>
                <a:spcPts val="4900"/>
              </a:lnSpc>
            </a:pPr>
          </a:p>
          <a:p>
            <a:pPr algn="ctr">
              <a:lnSpc>
                <a:spcPts val="490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691832" y="904875"/>
            <a:ext cx="5520029" cy="882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CONCLUSION </a:t>
            </a:r>
          </a:p>
        </p:txBody>
      </p:sp>
      <p:sp>
        <p:nvSpPr>
          <p:cNvPr name="AutoShape 6" id="6"/>
          <p:cNvSpPr/>
          <p:nvPr/>
        </p:nvSpPr>
        <p:spPr>
          <a:xfrm>
            <a:off x="1308017" y="1787524"/>
            <a:ext cx="4153295" cy="0"/>
          </a:xfrm>
          <a:prstGeom prst="line">
            <a:avLst/>
          </a:prstGeom>
          <a:ln cap="flat" w="38100">
            <a:solidFill>
              <a:srgbClr val="03316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4014634" y="385112"/>
            <a:ext cx="4208076" cy="1287176"/>
          </a:xfrm>
          <a:custGeom>
            <a:avLst/>
            <a:gdLst/>
            <a:ahLst/>
            <a:cxnLst/>
            <a:rect r="r" b="b" t="t" l="l"/>
            <a:pathLst>
              <a:path h="1287176" w="4208076">
                <a:moveTo>
                  <a:pt x="0" y="0"/>
                </a:moveTo>
                <a:lnTo>
                  <a:pt x="4208076" y="0"/>
                </a:lnTo>
                <a:lnTo>
                  <a:pt x="4208076" y="1287176"/>
                </a:lnTo>
                <a:lnTo>
                  <a:pt x="0" y="12871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10800000">
            <a:off x="13148541" y="2139642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0" y="8229600"/>
                </a:moveTo>
                <a:lnTo>
                  <a:pt x="7197159" y="8229600"/>
                </a:lnTo>
                <a:lnTo>
                  <a:pt x="7197159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1566282" y="2139642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719716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7197160" y="0"/>
                </a:lnTo>
                <a:lnTo>
                  <a:pt x="719716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18520" y="2862076"/>
            <a:ext cx="12414512" cy="463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745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adding new sensors</a:t>
            </a:r>
          </a:p>
          <a:p>
            <a:pPr algn="l" marL="755651" indent="-377825" lvl="1">
              <a:lnSpc>
                <a:spcPts val="745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upgrading already existing sensors</a:t>
            </a:r>
          </a:p>
          <a:p>
            <a:pPr algn="l" marL="755651" indent="-377825" lvl="1">
              <a:lnSpc>
                <a:spcPts val="745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cooling option for the Raspberry Pi</a:t>
            </a:r>
          </a:p>
          <a:p>
            <a:pPr algn="l" marL="755651" indent="-377825" lvl="1">
              <a:lnSpc>
                <a:spcPts val="745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designing a protective case for the product</a:t>
            </a:r>
          </a:p>
          <a:p>
            <a:pPr algn="l" marL="755651" indent="-377825" lvl="1">
              <a:lnSpc>
                <a:spcPts val="745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further training of AI models for more accurate predicitons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90507" y="904875"/>
            <a:ext cx="5431729" cy="882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WORK</a:t>
            </a:r>
          </a:p>
        </p:txBody>
      </p:sp>
      <p:sp>
        <p:nvSpPr>
          <p:cNvPr name="AutoShape 6" id="6"/>
          <p:cNvSpPr/>
          <p:nvPr/>
        </p:nvSpPr>
        <p:spPr>
          <a:xfrm>
            <a:off x="1028700" y="1787524"/>
            <a:ext cx="5006561" cy="0"/>
          </a:xfrm>
          <a:prstGeom prst="line">
            <a:avLst/>
          </a:prstGeom>
          <a:ln cap="flat" w="38100">
            <a:solidFill>
              <a:srgbClr val="03316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4014634" y="385112"/>
            <a:ext cx="4208076" cy="1287176"/>
          </a:xfrm>
          <a:custGeom>
            <a:avLst/>
            <a:gdLst/>
            <a:ahLst/>
            <a:cxnLst/>
            <a:rect r="r" b="b" t="t" l="l"/>
            <a:pathLst>
              <a:path h="1287176" w="4208076">
                <a:moveTo>
                  <a:pt x="0" y="0"/>
                </a:moveTo>
                <a:lnTo>
                  <a:pt x="4208076" y="0"/>
                </a:lnTo>
                <a:lnTo>
                  <a:pt x="4208076" y="1287176"/>
                </a:lnTo>
                <a:lnTo>
                  <a:pt x="0" y="12871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37493" y="769714"/>
            <a:ext cx="12213015" cy="8747572"/>
          </a:xfrm>
          <a:custGeom>
            <a:avLst/>
            <a:gdLst/>
            <a:ahLst/>
            <a:cxnLst/>
            <a:rect r="r" b="b" t="t" l="l"/>
            <a:pathLst>
              <a:path h="8747572" w="12213015">
                <a:moveTo>
                  <a:pt x="0" y="0"/>
                </a:moveTo>
                <a:lnTo>
                  <a:pt x="12213014" y="0"/>
                </a:lnTo>
                <a:lnTo>
                  <a:pt x="12213014" y="8747572"/>
                </a:lnTo>
                <a:lnTo>
                  <a:pt x="0" y="87475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1438831" y="-145232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0" y="8229600"/>
                </a:moveTo>
                <a:lnTo>
                  <a:pt x="7197159" y="8229600"/>
                </a:lnTo>
                <a:lnTo>
                  <a:pt x="7197159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41557" y="3995597"/>
            <a:ext cx="16517743" cy="202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59"/>
              </a:lnSpc>
            </a:pPr>
            <a:r>
              <a:rPr lang="en-US" sz="11613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</a:p>
        </p:txBody>
      </p:sp>
      <p:sp>
        <p:nvSpPr>
          <p:cNvPr name="Freeform 4" id="4"/>
          <p:cNvSpPr/>
          <p:nvPr/>
        </p:nvSpPr>
        <p:spPr>
          <a:xfrm flipH="false" flipV="true" rot="-10800000">
            <a:off x="12078963" y="2178564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0" y="8229600"/>
                </a:moveTo>
                <a:lnTo>
                  <a:pt x="7197159" y="8229600"/>
                </a:lnTo>
                <a:lnTo>
                  <a:pt x="7197159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014634" y="385112"/>
            <a:ext cx="4208076" cy="1287176"/>
          </a:xfrm>
          <a:custGeom>
            <a:avLst/>
            <a:gdLst/>
            <a:ahLst/>
            <a:cxnLst/>
            <a:rect r="r" b="b" t="t" l="l"/>
            <a:pathLst>
              <a:path h="1287176" w="4208076">
                <a:moveTo>
                  <a:pt x="0" y="0"/>
                </a:moveTo>
                <a:lnTo>
                  <a:pt x="4208076" y="0"/>
                </a:lnTo>
                <a:lnTo>
                  <a:pt x="4208076" y="1287176"/>
                </a:lnTo>
                <a:lnTo>
                  <a:pt x="0" y="12871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DAHM_y7BOmY</dc:identifier>
  <dcterms:modified xsi:type="dcterms:W3CDTF">2011-08-01T06:04:30Z</dcterms:modified>
  <cp:revision>1</cp:revision>
  <dc:title>MateiTudor_thesis_presentation</dc:title>
</cp:coreProperties>
</file>